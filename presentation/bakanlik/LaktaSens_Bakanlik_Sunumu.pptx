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LaktaSens tek bir çiftçinin değil, ülkenin süt sürüsünün verisini görünür kılan yerli ve milli bir platformdur. Çiftçi için maliyet ve sağlık; devlet için izlenebilirlik, dışa bağımlılığın azalması ve doğru hedeflenmiş politika.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Sorunları siyasi/kamu diliyle ver. Sağ panel kritik: yeni nesli tarıma çekmek istihdam ve kırsal kalkınma mesajıdır — “köyde kazanmayı” mümkün kılıyoruz.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Dikkat çekici çerçeve: bu bir vaat değil, somut adımlar. Canlı modüller ile AI yol haritasını ayırdığımızı baştan söylüyoruz — güven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Mesaj: yüzeysel değil, operasyon derinliği olan iki taraflı bir platform. Sidebar her ekranda modül genişliğini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“Saha verisi dijital panele akıyor” mesajı. THI doğrudan iklim değişikliği–verim bağına köprü.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Tedarik tarafında ölçeklenebilir ağ ve şeffaf fiyat. İki taraflı yapı = tek kullanıcı tipine bağlı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Ürün form dolduran panel değil; operasyon verisini analitik katmana taşıyor. Bu, AI için veri temelini kurar.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vizyon. Siyasi kanca: ülke ölçeğinde her hayvan için akıllı, açıklanabilir karar. Canlı değil yol haritası olduğunu sonraki slaytta dürüstçe söyle.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Dürüstlük: ekranların kendisi de “Sadece demo amaçlıdır” yazıyor. Bunu saklamıyoruz — güven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Kullanıcının istediği “hafif bahis + ne var elimizde”. Abartma yok: altyapı kuruldu/doğrulandı; gerçek veri ve üretim hedef. Caveat’i atlama — bakanlıkta güveni bu kurar.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vizyon-misyon politik tonda. Son cümle çağrı: devlet-üretici-teknoloji işbirliği. Buradan soru-cevaba geç.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2D6A4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023360"/>
            <a:ext cx="4754880" cy="4754880"/>
          </a:xfrm>
          <a:prstGeom prst="ellipse">
            <a:avLst/>
          </a:prstGeom>
          <a:solidFill>
            <a:srgbClr val="40916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1051560" cy="1051560"/>
          </a:xfrm>
          <a:prstGeom prst="ellipse">
            <a:avLst/>
          </a:prstGeom>
          <a:solidFill>
            <a:srgbClr val="40916C"/>
          </a:solidFill>
          <a:ln w="3175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6170" y="941832"/>
            <a:ext cx="336499" cy="47320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9875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TARIM VE ORMAN BAKANLIĞI SUNUMU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Lakta</a:t>
            </a:r>
            <a:pPr indent="0" marL="0">
              <a:buNone/>
            </a:pPr>
            <a:r>
              <a:rPr lang="en-US" sz="7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Süt Hayvancılığı ve Karar Destek Platformu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“Veriyle güçlenen çiftçi, kendine yeten Türkiye.”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5989320"/>
            <a:ext cx="3840480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Entegre Çiftlik Operasyonu  •  Sensör &amp; Veri  •  Yapay Zekâ Yol Haritası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99855" y="6126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YARARI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Neleri Çözüyoruz?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süt hayvancılığının kronik sorunlarına dijital çözüm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67128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671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 maliyeti &amp; dışa bağımlılık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3040" y="229514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 maliyetinin büyük kısmı yem; hammadde ithalata bağlı.  </a:t>
            </a:r>
            <a:pPr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Akıllı rasyon optimizasyonu maliyeti düşürür, yerli yemi önceler.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337560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337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Hayvan sağlığı &amp; antibiyotik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63040" y="346557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Mastitis ve metabolik hastalıklar geç fark edilir.  </a:t>
            </a:r>
            <a:pPr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Erken risk uyarısı = daha az hastalık, daha güvenli süt.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507992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507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3251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üreticinin kaybı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463600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baskısıyla küçük çiftçi sektörden çekiliyor.  </a:t>
            </a:r>
            <a:pPr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Büyük işletme teknolojisini her çiftçiye erişilebilir kılıyoruz.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85816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5678424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678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54955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&amp; izlenebilirlik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63040" y="580644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verisi kâğıtta kalıyor; politika veriye dayanamıyor.  </a:t>
            </a:r>
            <a:pPr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Sahadan dijital, doğrulanabilir, devlet sistemlerine açık veri.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26680" y="1874520"/>
            <a:ext cx="3916375" cy="4590288"/>
          </a:xfrm>
          <a:prstGeom prst="roundRect">
            <a:avLst>
              <a:gd name="adj" fmla="val 3269"/>
            </a:avLst>
          </a:prstGeom>
          <a:solidFill>
            <a:srgbClr val="1B4332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2167128"/>
            <a:ext cx="3276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GELECEĞİ KURUYORUZ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46720" y="2478024"/>
            <a:ext cx="3276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Nesli Tarıma Kazandırmak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046720" y="3310128"/>
            <a:ext cx="292608" cy="29260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58200" y="3255264"/>
            <a:ext cx="2864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Cebinden yönetilen çiftlik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458200" y="3547872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telefondan tek ekran; genç için cazip, modern bir meslek.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4178808"/>
            <a:ext cx="292608" cy="29260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58200" y="4123944"/>
            <a:ext cx="2864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Kürek değil, karar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458200" y="4416552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 el işçiliği yerine veri ve analiz; tarımda nitelikli istihdam.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5047488"/>
            <a:ext cx="292608" cy="29260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5047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58200" y="4992624"/>
            <a:ext cx="2864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rehberliği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458200" y="5285232"/>
            <a:ext cx="2864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 arayüz + AI önerileri; deneyimsiz genç çiftçiye usta desteği.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Sunumda Ne Göstereceğiz?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vaatten somut teknolojiye — dört adımda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99284" cy="320040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6802" y="256032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386802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4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 Çalışan Platform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4389120"/>
            <a:ext cx="1987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Çiftçi, tedarikçi ve depo operasyonu tek ekranda — bugün canlı.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29636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13684" y="2148840"/>
            <a:ext cx="2499284" cy="320040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846" y="2560320"/>
            <a:ext cx="822960" cy="82296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846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40" dirty="0"/>
          </a:p>
        </p:txBody>
      </p:sp>
      <p:sp>
        <p:nvSpPr>
          <p:cNvPr id="14" name="Text 12"/>
          <p:cNvSpPr/>
          <p:nvPr/>
        </p:nvSpPr>
        <p:spPr>
          <a:xfrm>
            <a:off x="3642284" y="361188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Sahadan Canlı Veri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69716" y="4389120"/>
            <a:ext cx="1987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Sensörlerle ahır ve hayvan; fiziksel dünya dijitale akıyor.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94680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78728" y="2148840"/>
            <a:ext cx="2499284" cy="320040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16889" y="2560320"/>
            <a:ext cx="822960" cy="82296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7116889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40" dirty="0"/>
          </a:p>
        </p:txBody>
      </p:sp>
      <p:sp>
        <p:nvSpPr>
          <p:cNvPr id="20" name="Text 18"/>
          <p:cNvSpPr/>
          <p:nvPr/>
        </p:nvSpPr>
        <p:spPr>
          <a:xfrm>
            <a:off x="6507328" y="361188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 ile Karar Zekâsı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4760" y="4389120"/>
            <a:ext cx="1987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 önceden gör, rasyonu optimize et, doğru kararı ver.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59723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3771" y="2148840"/>
            <a:ext cx="2499284" cy="320040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981933" y="256032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9981933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40" dirty="0"/>
          </a:p>
        </p:txBody>
      </p:sp>
      <p:sp>
        <p:nvSpPr>
          <p:cNvPr id="26" name="Text 24"/>
          <p:cNvSpPr/>
          <p:nvPr/>
        </p:nvSpPr>
        <p:spPr>
          <a:xfrm>
            <a:off x="9372371" y="361188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Türkiye İçin Anlamı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99803" y="4389120"/>
            <a:ext cx="19872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 maliyet, daha sağlıklı sürü, veriye dayalı politika.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bugün gerçek olanı net göstermek, yarının karar zekâsını dürüstçe konumlandırmak.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Platform, Tüm Operasyon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LaktaSens; çiftçiyi, tedarikçiyi, depoyu ve sensörü tek bir izlenebilir operasyon zincirinde birleştirir.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487168"/>
            <a:ext cx="384048" cy="384048"/>
          </a:xfrm>
          <a:prstGeom prst="ellipse">
            <a:avLst/>
          </a:prstGeom>
          <a:solidFill>
            <a:srgbClr val="EAF2E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1872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&amp; Sürü Takibi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61872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Sağmal, kuru, gebe, servis, yenidoğan ve çıkarılacaklar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2286000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13048" y="2487168"/>
            <a:ext cx="384048" cy="384048"/>
          </a:xfrm>
          <a:prstGeom prst="ellipse">
            <a:avLst/>
          </a:prstGeom>
          <a:solidFill>
            <a:srgbClr val="EAF2E6"/>
          </a:solidFill>
          <a:ln/>
        </p:spPr>
      </p:sp>
      <p:sp>
        <p:nvSpPr>
          <p:cNvPr id="12" name="Text 10"/>
          <p:cNvSpPr/>
          <p:nvPr/>
        </p:nvSpPr>
        <p:spPr>
          <a:xfrm>
            <a:off x="381304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25112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Ambar &amp; Depo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25112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Stok, mal kabul, tüketim, sevk ve izlenebilirlik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11296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712464"/>
            <a:ext cx="384048" cy="384048"/>
          </a:xfrm>
          <a:prstGeom prst="ellipse">
            <a:avLst/>
          </a:prstGeom>
          <a:solidFill>
            <a:srgbClr val="EAF2E6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3657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 &amp; İhale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61872" y="39684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toplu alım ihalesi, sipariş ve sevkiyat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3511296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13048" y="3712464"/>
            <a:ext cx="384048" cy="384048"/>
          </a:xfrm>
          <a:prstGeom prst="ellipse">
            <a:avLst/>
          </a:prstGeom>
          <a:solidFill>
            <a:srgbClr val="EAF2E6"/>
          </a:solidFill>
          <a:ln/>
        </p:spPr>
      </p:sp>
      <p:sp>
        <p:nvSpPr>
          <p:cNvPr id="22" name="Text 20"/>
          <p:cNvSpPr/>
          <p:nvPr/>
        </p:nvSpPr>
        <p:spPr>
          <a:xfrm>
            <a:off x="381304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25112" y="3657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 İzleme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25112" y="39684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Ahır/inek sıcaklık, nem, tasma; canlı saha verisi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736592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937760"/>
            <a:ext cx="384048" cy="384048"/>
          </a:xfrm>
          <a:prstGeom prst="ellipse">
            <a:avLst/>
          </a:prstGeom>
          <a:solidFill>
            <a:srgbClr val="EAF2E6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61872" y="4882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61872" y="51937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İhtiyaç, tedarik ve tüketim analizleri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11880" y="4736592"/>
            <a:ext cx="27889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13048" y="4937760"/>
            <a:ext cx="384048" cy="384048"/>
          </a:xfrm>
          <a:prstGeom prst="ellipse">
            <a:avLst/>
          </a:prstGeom>
          <a:solidFill>
            <a:srgbClr val="EAF2E6"/>
          </a:solidFill>
          <a:ln/>
        </p:spPr>
      </p:sp>
      <p:sp>
        <p:nvSpPr>
          <p:cNvPr id="32" name="Text 30"/>
          <p:cNvSpPr/>
          <p:nvPr/>
        </p:nvSpPr>
        <p:spPr>
          <a:xfrm>
            <a:off x="381304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25112" y="4882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(yol haritası)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325112" y="51937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tahmin, anomali ve öneri merkezi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1600200"/>
            <a:ext cx="4983480" cy="3183255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0" descr="C:\Users\Artun\Desktop\Dosyalar\github_repos\LaktaSens\presentation\bakanlik\screenshots\ai_genel_oz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91640"/>
            <a:ext cx="4800600" cy="3000375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766560" y="4801743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Çiftçi paneli — tek merkezden operasyon görünümü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858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Rol:  </a:t>
            </a:r>
            <a:pPr algn="ctr" indent="0" marL="0"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Çiftçi  •  Tedarikçi  •  Yönetim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SAHADAN CANLI VERI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Sensör İzleme: Fiziksel Dünyadan Dijitale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Ahır ve hayvan; sıcaklık, nem ve tasma verisiyle 7/24 izlenir. Sistem fiziksel dünyaya bağlanır.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15768"/>
            <a:ext cx="310896" cy="31089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660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Sıcaklık stresi (THI)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Verim kaybına yol açan ısı stresi erken yakalanır.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310896" cy="31089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5753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Soğuk zincir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8679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Depo/süt soğuk zinciri sapmaları anında görünür.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44568"/>
            <a:ext cx="310896" cy="310896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44897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eşikleri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4782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Vücut sıcaklığı ideal/riskli aralıklara göre yorumlanır.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20640" y="1508760"/>
            <a:ext cx="6583680" cy="4183380"/>
          </a:xfrm>
          <a:prstGeom prst="roundRect">
            <a:avLst>
              <a:gd name="adj" fmla="val 1530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0" descr="C:\Users\Artun\Desktop\Dosyalar\github_repos\LaktaSens\presentation\bakanlik\screenshots\sensor_sicak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600200"/>
            <a:ext cx="6400800" cy="40005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20640" y="57104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Nem–sıcaklık izleme ve inek vücut sıcaklığı risk aralıkları (canlı grafik)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TARAFLI PAZAR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Tedarik &amp; Şeffaf Alım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583680" cy="4183380"/>
          </a:xfrm>
          <a:prstGeom prst="roundRect">
            <a:avLst>
              <a:gd name="adj" fmla="val 1530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C:\Users\Artun\Desktop\Dosyalar\github_repos\LaktaSens\presentation\bakanlik\screenshots\ihale_basl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7104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İhale başlatma — planlı toplu alım ve teklif toplama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98080" y="1691640"/>
            <a:ext cx="4144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Çiftçi satın alma kararını platform içinde verir; tedarikçi aynı ağda teklif sunar.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98080" y="2761488"/>
            <a:ext cx="310896" cy="3108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55280" y="2706624"/>
            <a:ext cx="3687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 Market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55280" y="2999232"/>
            <a:ext cx="3687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Ürün, fiyat, stok ve tedarikçi karşılaştırması tek ekranda.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0" y="3721608"/>
            <a:ext cx="310896" cy="3108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955280" y="3666744"/>
            <a:ext cx="3687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Alım İhalesi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955280" y="3959352"/>
            <a:ext cx="3687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Planlı talep + teklif toplama ile ölçeklenebilir tedarik ağı.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98080" y="4681728"/>
            <a:ext cx="310896" cy="31089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955280" y="4626864"/>
            <a:ext cx="3687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→ Sevkiyat → Depo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955280" y="4919472"/>
            <a:ext cx="3687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siparişten depoya kadar uçtan uca izlenir.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OPERASYONDAN ANALITIĞE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 &amp; Akıllı Analitik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yalnızca teslim almaz; sürekli izler ve operasyon verisini analitiğe dönüştürür.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15768"/>
            <a:ext cx="310896" cy="31089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6609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&amp; tüketim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stok, mal kabul ve tüketim geçmişi.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310896" cy="31089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575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 analizi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867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 dağılımına göre yem ihtiyacı tahmini.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44568"/>
            <a:ext cx="310896" cy="310896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44897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 &amp; tüketim analizi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4782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Geçmişe dönük kontrol ve planlama.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0" y="1508760"/>
            <a:ext cx="6400800" cy="4069080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0" descr="C:\Users\Artun\Desktop\Dosyalar\github_repos\LaktaSens\presentation\bakanlik\screenshots\yem_ihtiyac_analiz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600200"/>
            <a:ext cx="6217920" cy="3886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03520" y="5596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 dağılımı ve yem tüketimine dayalı ihtiyaç analizi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2D6A4F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 — VIZYON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Zekâ: Geleceğin Karar Zekâsı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“Her inek için, her gün, en doğru besleme ve sağlık kararı — saniyeler içinde, açıklanabilir biçimde.”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396414" cy="1920240"/>
          </a:xfrm>
          <a:prstGeom prst="roundRect">
            <a:avLst>
              <a:gd name="adj" fmla="val 4762"/>
            </a:avLst>
          </a:prstGeom>
          <a:solidFill>
            <a:srgbClr val="244C3A"/>
          </a:solidFill>
          <a:ln w="12700">
            <a:solidFill>
              <a:srgbClr val="356B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06040"/>
            <a:ext cx="384048" cy="38404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587752"/>
            <a:ext cx="1390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 + süt + sağlık + çevre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766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47974" y="2331720"/>
            <a:ext cx="2396414" cy="1920240"/>
          </a:xfrm>
          <a:prstGeom prst="roundRect">
            <a:avLst>
              <a:gd name="adj" fmla="val 4762"/>
            </a:avLst>
          </a:prstGeom>
          <a:solidFill>
            <a:srgbClr val="244C3A"/>
          </a:solidFill>
          <a:ln w="12700">
            <a:solidFill>
              <a:srgbClr val="356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2294" y="2606040"/>
            <a:ext cx="384048" cy="38404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270934" y="2587752"/>
            <a:ext cx="1390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22294" y="3200400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ihtiyaç tahmini, erken uyarı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261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47308" y="2331720"/>
            <a:ext cx="2396414" cy="1920240"/>
          </a:xfrm>
          <a:prstGeom prst="roundRect">
            <a:avLst>
              <a:gd name="adj" fmla="val 4762"/>
            </a:avLst>
          </a:prstGeom>
          <a:solidFill>
            <a:srgbClr val="244C3A"/>
          </a:solidFill>
          <a:ln w="12700">
            <a:solidFill>
              <a:srgbClr val="356B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1628" y="260604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7170268" y="2587752"/>
            <a:ext cx="1390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B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1628" y="3200400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Maliyet-verim-risk rasyon optimizasyonu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25433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246641" y="2331720"/>
            <a:ext cx="2396414" cy="1920240"/>
          </a:xfrm>
          <a:prstGeom prst="roundRect">
            <a:avLst>
              <a:gd name="adj" fmla="val 4762"/>
            </a:avLst>
          </a:prstGeom>
          <a:solidFill>
            <a:srgbClr val="244C3A"/>
          </a:solidFill>
          <a:ln w="12700">
            <a:solidFill>
              <a:srgbClr val="356B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20961" y="2606040"/>
            <a:ext cx="384048" cy="384048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3" name="Text 21"/>
          <p:cNvSpPr/>
          <p:nvPr/>
        </p:nvSpPr>
        <p:spPr>
          <a:xfrm>
            <a:off x="10069601" y="2587752"/>
            <a:ext cx="1390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20961" y="3200400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Açıklamalı öneri + IOFC ekonomisi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244C3A"/>
          </a:solidFill>
          <a:ln w="12700">
            <a:solidFill>
              <a:srgbClr val="D8E3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0060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244C3A"/>
          </a:solidFill>
          <a:ln w="12700">
            <a:solidFill>
              <a:srgbClr val="356B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12064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828800" y="49834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Sürüden Tut / Çıkar Kararı (Pekiştirmeli Öğrenme)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828800" y="5349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hayvanı doğru zamanda elde tutmak — ekonomik ve verim temelli, ulusal sürü kapasitesini koruyan kararlar.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ZEKÂ, ÜRÜNDE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Karar Ekranları (Demo)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Vizyonu somutlaştıran demo ekranlar — risk, anomali ve öneriler çiftçinin diline çevrilir.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37178" cy="2341817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C:\Users\Artun\Desktop\Dosyalar\github_repos\LaktaSens\presentation\bakanlik\screenshots\ai_risk_skorl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3454298" cy="21589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26065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Skorları — mastitis, kalite, verim kaybı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77258" y="1965960"/>
            <a:ext cx="3637178" cy="2341817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C:\Users\Artun\Desktop\Dosyalar\github_repos\LaktaSens\presentation\bakanlik\screenshots\ai_anomali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8" y="2057400"/>
            <a:ext cx="3454298" cy="21589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77258" y="4326065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Anomaliler — kritik/yüksek öncelikli sapmalar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097317" y="1965960"/>
            <a:ext cx="3637178" cy="2341817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C:\Users\Artun\Desktop\Dosyalar\github_repos\LaktaSens\presentation\bakanlik\screenshots\ai_oneri_merkez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757" y="2057400"/>
            <a:ext cx="3454298" cy="21589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97317" y="4326065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 Merkezi — etkisi ve önceliğiyle aksiyonlar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Bu ekranlar gösterim amaçlı demo verilerle çalışır; model entegrasyonu yol haritasındadır.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Zekâ: Şu Ana Kadar Ne Yaptık?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A — Sağlık/Risk Modeli Altyapısı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29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modeli karşılaştırıldı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2029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0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tekrarlı, inek-bazlı çapraz doğrulama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264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↓ECE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3776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kalibrasyonu uygulandı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315468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3264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Açıkl.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57600" y="3776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 özellik önemi (SHAP/permütasyon)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Çıkarım: Riskli inekleri ayırt eden model altyapısı kuruldu ve titizce doğrulandı.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Keep/Cull — Pekiştirmeli Öğrenme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1874520"/>
            <a:ext cx="5669280" cy="3103956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12700">
            <a:solidFill>
              <a:srgbClr val="D8E3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0" descr="C:\Users\Artun\Desktop\Dosyalar\github_repos\LaktaSens\KDS\Sürüden_keep_cull\teslim\sunum\grafikler\05_baseline_karsilast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65960"/>
            <a:ext cx="5486400" cy="29210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09360" y="511563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Öğrenen ajan (qlearning −204) naif kuralları (cull_all −1300) açık ara geçiyor; MDP optimumuna eşit.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580644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EAF2E6"/>
          </a:solidFill>
          <a:ln w="12700">
            <a:solidFill>
              <a:srgbClr val="D8E3D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580644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EAF2E6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8064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not:  </a:t>
            </a:r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sonuçlar yöntem ve altyapıyı doğrulamak için sentetik/temsili veriyle üretildi. Gerçek saha verisiyle doğrulama ve üretime geçiş hedefimizdir.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5486400" cy="5486400"/>
          </a:xfrm>
          <a:prstGeom prst="ellipse">
            <a:avLst/>
          </a:prstGeom>
          <a:solidFill>
            <a:srgbClr val="40916C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 &amp; MISYON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Veriyle Güçlenen Çiftçi, Kendine Yeten Türkiye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3657600"/>
          </a:xfrm>
          <a:prstGeom prst="roundRect">
            <a:avLst>
              <a:gd name="adj" fmla="val 3500"/>
            </a:avLst>
          </a:prstGeom>
          <a:solidFill>
            <a:srgbClr val="244C3A"/>
          </a:solidFill>
          <a:ln w="12700">
            <a:solidFill>
              <a:srgbClr val="D8E3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394960" cy="3657600"/>
          </a:xfrm>
          <a:prstGeom prst="roundRect">
            <a:avLst>
              <a:gd name="adj" fmla="val 3500"/>
            </a:avLst>
          </a:prstGeom>
          <a:solidFill>
            <a:srgbClr val="244C3A"/>
          </a:solidFill>
          <a:ln w="12700">
            <a:solidFill>
              <a:srgbClr val="35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VİZYON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Bereketli topraklarımızda üretilen her damla sütü veriyle değerli kılmak; dışa bağımlılığı azaltarak kendine yeten, güçlü ve dijital bir Türkiye tarımı inşa etmek.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MİSYON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642616"/>
            <a:ext cx="256032" cy="25603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2560320"/>
            <a:ext cx="4830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karar gücünü Anadolu’daki küçük üreticinin de hizmetine sunmak — kimseyi geride bırakmadan.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3392424"/>
            <a:ext cx="256032" cy="25603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310128"/>
            <a:ext cx="4830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 maliyetini düşürerek cari açıkla mücadeleye ve üreticinin kazancına omuz vermek.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4142232"/>
            <a:ext cx="256032" cy="25603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4059936"/>
            <a:ext cx="4830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Hayvanları hastalanmadan koruyarak gıda güvenliğini ve sofraların bereketini güvence altına almak.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892040"/>
            <a:ext cx="256032" cy="25603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892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4809744"/>
            <a:ext cx="4830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Ürettiği veriyle devletin politikalarına, desteklemelerine ve denetimine güç katan yerli ve milli bir altyapı kurmak.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Devlet  —  Üretici  —  Teknoloji:  el ele, üretim için.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LaktaSens — Tarim ve Orman Bakanligi Sunumu</dc:title>
  <dc:subject>PptxGenJS Presentation</dc:subject>
  <dc:creator>LaktaSens</dc:creator>
  <cp:lastModifiedBy>LaktaSens</cp:lastModifiedBy>
  <cp:revision>1</cp:revision>
  <dcterms:created xsi:type="dcterms:W3CDTF">2026-06-14T13:48:57Z</dcterms:created>
  <dcterms:modified xsi:type="dcterms:W3CDTF">2026-06-14T13:48:57Z</dcterms:modified>
</cp:coreProperties>
</file>