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Süt Sığırcılığında İnek Bazında Keep/Cull Kararı için</a:t>
            </a:r>
          </a:p>
          <a:p>
            <a:r>
              <a:rPr sz="3400" b="1" i="0">
                <a:solidFill>
                  <a:srgbClr val="FFFFFF"/>
                </a:solidFill>
                <a:latin typeface="Cambria"/>
              </a:rPr>
              <a:t>Pekiştirmeli Öğrenme</a:t>
            </a:r>
          </a:p>
          <a:p>
            <a:pPr>
              <a:spcBef>
                <a:spcPts val="1400"/>
              </a:spcBef>
            </a:pPr>
            <a:r>
              <a:rPr sz="1800" b="0" i="1">
                <a:solidFill>
                  <a:srgbClr val="97BC62"/>
                </a:solidFill>
                <a:latin typeface="Calibri"/>
              </a:rPr>
              <a:t>Empirik Stokastik MDP  ·  Tabular Q-Learning + SB3 DQN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120640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Calibri"/>
              </a:rPr>
              <a:t>255172008 — Artun KARA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3000" b="1" i="0">
                <a:solidFill>
                  <a:srgbClr val="2C5F2D"/>
                </a:solidFill>
                <a:latin typeface="Cambria"/>
              </a:rPr>
              <a:t>Problem ve Neden Pekiştirmeli Öğrenme?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1000"/>
              </a:spcAft>
            </a:pPr>
            <a:r>
              <a:rPr sz="1800" b="1" i="0">
                <a:solidFill>
                  <a:srgbClr val="2C5F2D"/>
                </a:solidFill>
                <a:latin typeface="Calibri"/>
              </a:rPr>
              <a:t>▸ Problem:</a:t>
            </a:r>
            <a:r>
              <a:rPr sz="1800" b="0" i="0">
                <a:solidFill>
                  <a:srgbClr val="212121"/>
                </a:solidFill>
                <a:latin typeface="Calibri"/>
              </a:rPr>
              <a:t> Her ay her inek için keep (elde tut) / cull (sürüden çıkar); amaç iskontolu uzun vadeli iktisadi getiriyi maksimize etmek.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2C5F2D"/>
                </a:solidFill>
                <a:latin typeface="Calibri"/>
              </a:rPr>
              <a:t>▸ Ardışıklık:</a:t>
            </a:r>
            <a:r>
              <a:rPr sz="1800" b="0" i="0">
                <a:solidFill>
                  <a:srgbClr val="212121"/>
                </a:solidFill>
                <a:latin typeface="Calibri"/>
              </a:rPr>
              <a:t> keep ineği bir sonraki aylık duruma taşır; karar geleceği etkiler.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2C5F2D"/>
                </a:solidFill>
                <a:latin typeface="Calibri"/>
              </a:rPr>
              <a:t>▸ Gecikmeli ödül:</a:t>
            </a:r>
            <a:r>
              <a:rPr sz="1800" b="0" i="0">
                <a:solidFill>
                  <a:srgbClr val="212121"/>
                </a:solidFill>
                <a:latin typeface="Calibri"/>
              </a:rPr>
              <a:t> Tutmanın değeri gelecekteki süt − birikmiş risk (γ = 0.97).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2C5F2D"/>
                </a:solidFill>
                <a:latin typeface="Calibri"/>
              </a:rPr>
              <a:t>▸ Stokastik + büyük uzay:</a:t>
            </a:r>
            <a:r>
              <a:rPr sz="1800" b="0" i="0">
                <a:solidFill>
                  <a:srgbClr val="212121"/>
                </a:solidFill>
                <a:latin typeface="Calibri"/>
              </a:rPr>
              <a:t> Geçiş dinamiği gerçek kayıtlardan empirik; 162 durum.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2C5F2D"/>
                </a:solidFill>
                <a:latin typeface="Calibri"/>
              </a:rPr>
              <a:t>▸ Neden A*/DP değil:</a:t>
            </a:r>
            <a:r>
              <a:rPr sz="1800" b="0" i="0">
                <a:solidFill>
                  <a:srgbClr val="212121"/>
                </a:solidFill>
                <a:latin typeface="Calibri"/>
              </a:rPr>
              <a:t> Ortam stokastik (kod satırıyla ispatlı) → en kısa yol uygulanamaz; risk-eşiği heuristiği RL'in gerisinde.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3000" b="1" i="0">
                <a:solidFill>
                  <a:srgbClr val="2C5F2D"/>
                </a:solidFill>
                <a:latin typeface="Cambria"/>
              </a:rPr>
              <a:t>MDP Formülasyonu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1000"/>
              </a:spcAft>
            </a:pPr>
            <a:r>
              <a:rPr sz="1800" b="1" i="0">
                <a:solidFill>
                  <a:srgbClr val="2C5F2D"/>
                </a:solidFill>
                <a:latin typeface="Calibri"/>
              </a:rPr>
              <a:t>▸ Durum:</a:t>
            </a:r>
            <a:r>
              <a:rPr sz="1800" b="0" i="0">
                <a:solidFill>
                  <a:srgbClr val="212121"/>
                </a:solidFill>
                <a:latin typeface="Calibri"/>
              </a:rPr>
              <a:t> laktasyon_evresi | parite | dim_band | milk_level | milk_trend | health_risk | risk_band (162 kova).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2C5F2D"/>
                </a:solidFill>
                <a:latin typeface="Calibri"/>
              </a:rPr>
              <a:t>▸ Aksiyon:</a:t>
            </a:r>
            <a:r>
              <a:rPr sz="1800" b="0" i="0">
                <a:solidFill>
                  <a:srgbClr val="212121"/>
                </a:solidFill>
                <a:latin typeface="Calibri"/>
              </a:rPr>
              <a:t> keep (0, terminal değil), cull (1, terminal).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2C5F2D"/>
                </a:solidFill>
                <a:latin typeface="Calibri"/>
              </a:rPr>
              <a:t>▸ Ödül (kod ↔ formül birebir):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1051560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212121"/>
                </a:solidFill>
                <a:latin typeface="Consolas"/>
              </a:rPr>
              <a:t>R_keep = m·d·p − c_b·d − C_sağlık − C_üreme − C_beklenen-cull</a:t>
            </a:r>
            <a:r>
              <a:rPr sz="1300" b="0" i="1">
                <a:solidFill>
                  <a:srgbClr val="666666"/>
                </a:solidFill>
                <a:latin typeface="Calibri"/>
              </a:rPr>
              <a:t>    (kod/env/rl_mdp_utils.py:120)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212121"/>
                </a:solidFill>
                <a:latin typeface="Consolas"/>
              </a:rPr>
              <a:t>R_cull = v_c − c_r − c_disposal   (c_disposal = 0)</a:t>
            </a:r>
            <a:r>
              <a:rPr sz="1300" b="0" i="1">
                <a:solidFill>
                  <a:srgbClr val="666666"/>
                </a:solidFill>
                <a:latin typeface="Calibri"/>
              </a:rPr>
              <a:t>    (kod/env/rl_mdp_utils.py:76)</a:t>
            </a:r>
          </a:p>
          <a:p>
            <a:pPr>
              <a:spcBef>
                <a:spcPts val="600"/>
              </a:spcBef>
            </a:pPr>
            <a:r>
              <a:rPr sz="1300" b="0" i="1">
                <a:solidFill>
                  <a:srgbClr val="666666"/>
                </a:solidFill>
                <a:latin typeface="Calibri"/>
              </a:rPr>
              <a:t>Parametreler reward_baseline_us_2025.csv (süt fiyatı &amp; bakım USDA 2025; diğerleri prototip).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3000" b="1" i="0">
                <a:solidFill>
                  <a:srgbClr val="2C5F2D"/>
                </a:solidFill>
                <a:latin typeface="Cambria"/>
              </a:rPr>
              <a:t>Ortam Stokastik (kanıt)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383280"/>
            <a:ext cx="10972800" cy="2926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1000"/>
              </a:spcAft>
            </a:pPr>
            <a:r>
              <a:rPr sz="1800" b="1" i="0">
                <a:solidFill>
                  <a:srgbClr val="2C5F2D"/>
                </a:solidFill>
                <a:latin typeface="Calibri"/>
              </a:rPr>
              <a:t>▸ 162 durumun 120'sinde (%74)</a:t>
            </a:r>
            <a:r>
              <a:rPr sz="1800" b="0" i="0">
                <a:solidFill>
                  <a:srgbClr val="212121"/>
                </a:solidFill>
                <a:latin typeface="Calibri"/>
              </a:rPr>
              <a:t> keep altında birden çok olası s′ var.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2C5F2D"/>
                </a:solidFill>
                <a:latin typeface="Calibri"/>
              </a:rPr>
              <a:t>▸ Örnek:</a:t>
            </a:r>
            <a:r>
              <a:rPr sz="1800" b="0" i="0">
                <a:solidFill>
                  <a:srgbClr val="212121"/>
                </a:solidFill>
                <a:latin typeface="Calibri"/>
              </a:rPr>
              <a:t> bir durum 3 farklı s′'ye her biri p = 0.333 ile geçer.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2C5F2D"/>
                </a:solidFill>
                <a:latin typeface="Calibri"/>
              </a:rPr>
              <a:t>▸ cull deterministik terminal.</a:t>
            </a:r>
            <a:r>
              <a:rPr sz="1800" b="0" i="0">
                <a:solidFill>
                  <a:srgbClr val="212121"/>
                </a:solidFill>
                <a:latin typeface="Calibri"/>
              </a:rPr>
              <a:t> Aynı seed → aynı yörünge (yalnızca tekrarlanabilirlik).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1554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700" b="0" i="0">
                <a:solidFill>
                  <a:srgbClr val="212121"/>
                </a:solidFill>
                <a:latin typeface="Calibri"/>
              </a:rPr>
              <a:t>keep sonrası bir sonraki durum empirik dağılımdan örneklenir:</a:t>
            </a:r>
          </a:p>
          <a:p>
            <a:pPr>
              <a:spcBef>
                <a:spcPts val="800"/>
              </a:spcBef>
            </a:pPr>
            <a:r>
              <a:rPr sz="1500" b="1" i="0">
                <a:solidFill>
                  <a:srgbClr val="2C5F2D"/>
                </a:solidFill>
                <a:latin typeface="Consolas"/>
              </a:rPr>
              <a:t>selected = outcomes[int(rng.choice(len(outcomes), p=probabilities))]</a:t>
            </a:r>
          </a:p>
          <a:p>
            <a:r>
              <a:rPr sz="1300" b="0" i="1">
                <a:solidFill>
                  <a:srgbClr val="666666"/>
                </a:solidFill>
                <a:latin typeface="Calibri"/>
              </a:rPr>
              <a:t>kod/env/rl_experiment_utils.py:161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3000" b="1" i="0">
                <a:solidFill>
                  <a:srgbClr val="2C5F2D"/>
                </a:solidFill>
                <a:latin typeface="Cambria"/>
              </a:rPr>
              <a:t>Yöntem ve Deney Kurulumu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548640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000" b="1" i="0">
                <a:solidFill>
                  <a:srgbClr val="2C5F2D"/>
                </a:solidFill>
                <a:latin typeface="Cambria"/>
              </a:rPr>
              <a:t>Ajanlar / referans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12121"/>
                </a:solidFill>
                <a:latin typeface="Calibri"/>
              </a:rPr>
              <a:t>▸ Tabular Q-Learning (off-policy)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12121"/>
                </a:solidFill>
                <a:latin typeface="Calibri"/>
              </a:rPr>
              <a:t>▸ SB3 DQN (off-policy, replay buffer)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12121"/>
                </a:solidFill>
                <a:latin typeface="Calibri"/>
              </a:rPr>
              <a:t>▸ MDP Value Iteration (optimum ref.)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12121"/>
                </a:solidFill>
                <a:latin typeface="Calibri"/>
              </a:rPr>
              <a:t>▸ Baseline: random / keep_all / cull_all / risk_threshold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554480"/>
            <a:ext cx="512064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000" b="1" i="0">
                <a:solidFill>
                  <a:srgbClr val="2C5F2D"/>
                </a:solidFill>
                <a:latin typeface="Cambria"/>
              </a:rPr>
              <a:t>Kurulum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12121"/>
                </a:solidFill>
                <a:latin typeface="Calibri"/>
              </a:rPr>
              <a:t>▸ Seedler: 42, 123, 2024, 7, 99 (≥5)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12121"/>
                </a:solidFill>
                <a:latin typeface="Calibri"/>
              </a:rPr>
              <a:t>▸ full: DQN 100k, Q-learning 4000 ep.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12121"/>
                </a:solidFill>
                <a:latin typeface="Calibri"/>
              </a:rPr>
              <a:t>▸ np.random.default_rng (yasak kalıp yok)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12121"/>
                </a:solidFill>
                <a:latin typeface="Calibri"/>
              </a:rPr>
              <a:t>▸ Eval: deterministic/greedy, 500 ep/seed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3000" b="1" i="0">
                <a:solidFill>
                  <a:srgbClr val="2C5F2D"/>
                </a:solidFill>
                <a:latin typeface="Cambria"/>
              </a:rPr>
              <a:t>Sonuçlar (seed ort. ± std, full)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280160" y="1463040"/>
          <a:ext cx="96012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577340"/>
                <a:gridCol w="1577340"/>
                <a:gridCol w="1577340"/>
                <a:gridCol w="1577340"/>
              </a:tblGrid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Politika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Tür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Getiri (USD)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Std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Cull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12121"/>
                          </a:solidFill>
                          <a:latin typeface="Calibri"/>
                        </a:rPr>
                        <a:t>qlearning</a:t>
                      </a:r>
                    </a:p>
                  </a:txBody>
                  <a:tcPr>
                    <a:solidFill>
                      <a:srgbClr val="97BC6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212121"/>
                          </a:solidFill>
                          <a:latin typeface="Calibri"/>
                        </a:rPr>
                        <a:t>ajan</a:t>
                      </a:r>
                    </a:p>
                  </a:txBody>
                  <a:tcPr>
                    <a:solidFill>
                      <a:srgbClr val="97BC6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212121"/>
                          </a:solidFill>
                          <a:latin typeface="Calibri"/>
                        </a:rPr>
                        <a:t>−204</a:t>
                      </a:r>
                    </a:p>
                  </a:txBody>
                  <a:tcPr>
                    <a:solidFill>
                      <a:srgbClr val="97BC6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212121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>
                    <a:solidFill>
                      <a:srgbClr val="97BC6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212121"/>
                          </a:solidFill>
                          <a:latin typeface="Calibri"/>
                        </a:rPr>
                        <a:t>0.72</a:t>
                      </a:r>
                    </a:p>
                  </a:txBody>
                  <a:tcPr>
                    <a:solidFill>
                      <a:srgbClr val="97BC62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12121"/>
                          </a:solidFill>
                          <a:latin typeface="Calibri"/>
                        </a:rPr>
                        <a:t>mdp_value_iteration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12121"/>
                          </a:solidFill>
                          <a:latin typeface="Calibri"/>
                        </a:rPr>
                        <a:t>referans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12121"/>
                          </a:solidFill>
                          <a:latin typeface="Calibri"/>
                        </a:rPr>
                        <a:t>−225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12121"/>
                          </a:solidFill>
                          <a:latin typeface="Calibri"/>
                        </a:rPr>
                        <a:t>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12121"/>
                          </a:solidFill>
                          <a:latin typeface="Calibri"/>
                        </a:rPr>
                        <a:t>0.45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12121"/>
                          </a:solidFill>
                          <a:latin typeface="Calibri"/>
                        </a:rPr>
                        <a:t>dqn</a:t>
                      </a:r>
                    </a:p>
                  </a:txBody>
                  <a:tcPr>
                    <a:solidFill>
                      <a:srgbClr val="97BC6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212121"/>
                          </a:solidFill>
                          <a:latin typeface="Calibri"/>
                        </a:rPr>
                        <a:t>ajan</a:t>
                      </a:r>
                    </a:p>
                  </a:txBody>
                  <a:tcPr>
                    <a:solidFill>
                      <a:srgbClr val="97BC6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212121"/>
                          </a:solidFill>
                          <a:latin typeface="Calibri"/>
                        </a:rPr>
                        <a:t>−270</a:t>
                      </a:r>
                    </a:p>
                  </a:txBody>
                  <a:tcPr>
                    <a:solidFill>
                      <a:srgbClr val="97BC6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212121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>
                    <a:solidFill>
                      <a:srgbClr val="97BC6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212121"/>
                          </a:solidFill>
                          <a:latin typeface="Calibri"/>
                        </a:rPr>
                        <a:t>0.82</a:t>
                      </a:r>
                    </a:p>
                  </a:txBody>
                  <a:tcPr>
                    <a:solidFill>
                      <a:srgbClr val="97BC62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12121"/>
                          </a:solidFill>
                          <a:latin typeface="Calibri"/>
                        </a:rPr>
                        <a:t>risk_threshold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12121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12121"/>
                          </a:solidFill>
                          <a:latin typeface="Calibri"/>
                        </a:rPr>
                        <a:t>−385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12121"/>
                          </a:solidFill>
                          <a:latin typeface="Calibri"/>
                        </a:rPr>
                        <a:t>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12121"/>
                          </a:solidFill>
                          <a:latin typeface="Calibri"/>
                        </a:rPr>
                        <a:t>0.85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12121"/>
                          </a:solidFill>
                          <a:latin typeface="Calibri"/>
                        </a:rPr>
                        <a:t>keep_all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12121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12121"/>
                          </a:solidFill>
                          <a:latin typeface="Calibri"/>
                        </a:rPr>
                        <a:t>−428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12121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12121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12121"/>
                          </a:solidFill>
                          <a:latin typeface="Calibri"/>
                        </a:rPr>
                        <a:t>random_policy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12121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12121"/>
                          </a:solidFill>
                          <a:latin typeface="Calibri"/>
                        </a:rPr>
                        <a:t>−964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12121"/>
                          </a:solidFill>
                          <a:latin typeface="Calibri"/>
                        </a:rPr>
                        <a:t>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12121"/>
                          </a:solidFill>
                          <a:latin typeface="Calibri"/>
                        </a:rPr>
                        <a:t>0.75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12121"/>
                          </a:solidFill>
                          <a:latin typeface="Calibri"/>
                        </a:rPr>
                        <a:t>cull_all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12121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12121"/>
                          </a:solidFill>
                          <a:latin typeface="Calibri"/>
                        </a:rPr>
                        <a:t>−1300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1212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12121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566928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0" i="1">
                <a:solidFill>
                  <a:srgbClr val="212121"/>
                </a:solidFill>
                <a:latin typeface="Calibri"/>
              </a:rPr>
              <a:t>Ajanlar tüm baseline'ları geçti; Q-learning model-tabanlı optimuma istatistiksel olarak eşitlendi (fark anlamsız, eşli t-test p≈0.37). Dağılım sağa çarpık: medyan −556 vs ort. −204.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3000" b="1" i="0">
                <a:solidFill>
                  <a:srgbClr val="2C5F2D"/>
                </a:solidFill>
                <a:latin typeface="Cambria"/>
              </a:rPr>
              <a:t>Grafik 1 — Öğrenme Eğrisi</a:t>
            </a:r>
          </a:p>
        </p:txBody>
      </p:sp>
      <p:pic>
        <p:nvPicPr>
          <p:cNvPr id="3" name="Picture 2" descr="01_ogrenme_egris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887" y="1417320"/>
            <a:ext cx="10789920" cy="372022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172200"/>
            <a:ext cx="109728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0" i="1">
                <a:solidFill>
                  <a:srgbClr val="666666"/>
                </a:solidFill>
                <a:latin typeface="Calibri"/>
              </a:rPr>
              <a:t>y: episode getirisi (anlık ödül değil); n=5 seed, ortalama ± std + hareketli ortalama.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3000" b="1" i="0">
                <a:solidFill>
                  <a:srgbClr val="2C5F2D"/>
                </a:solidFill>
                <a:latin typeface="Cambria"/>
              </a:rPr>
              <a:t>Grafik 2 — Test/Eval Eğrisi</a:t>
            </a:r>
          </a:p>
        </p:txBody>
      </p:sp>
      <p:pic>
        <p:nvPicPr>
          <p:cNvPr id="3" name="Picture 2" descr="02_eval_egris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887" y="1417320"/>
            <a:ext cx="10789920" cy="372022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172200"/>
            <a:ext cx="109728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0" i="1">
                <a:solidFill>
                  <a:srgbClr val="666666"/>
                </a:solidFill>
                <a:latin typeface="Calibri"/>
              </a:rPr>
              <a:t>Deterministic/greedy; yeşil kesik çizgi MDP-optimum referansı (tavan). Ajanlar tavana ulaşıyor.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3000" b="1" i="0">
                <a:solidFill>
                  <a:srgbClr val="2C5F2D"/>
                </a:solidFill>
                <a:latin typeface="Cambria"/>
              </a:rPr>
              <a:t>Grafik 3 — Loss + Policy Heatmap</a:t>
            </a:r>
          </a:p>
        </p:txBody>
      </p:sp>
      <p:pic>
        <p:nvPicPr>
          <p:cNvPr id="3" name="Picture 2" descr="03_loss_ve_policy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887" y="1417320"/>
            <a:ext cx="10789920" cy="38970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172200"/>
            <a:ext cx="109728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0" i="1">
                <a:solidFill>
                  <a:srgbClr val="666666"/>
                </a:solidFill>
                <a:latin typeface="Calibri"/>
              </a:rPr>
              <a:t>DQN TD-loss yakınsıyor; heatmap: yüksek risk × ileri DIM → cull oranı artıyor (iktisadi olarak anlamlı).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3000" b="1" i="0">
                <a:solidFill>
                  <a:srgbClr val="2C5F2D"/>
                </a:solidFill>
                <a:latin typeface="Cambria"/>
              </a:rPr>
              <a:t>Grafik 4 — Hiperparametre Duyarlılığı</a:t>
            </a:r>
          </a:p>
        </p:txBody>
      </p:sp>
      <p:pic>
        <p:nvPicPr>
          <p:cNvPr id="3" name="Picture 2" descr="04_hiperparametre_duyarlili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887" y="1417320"/>
            <a:ext cx="10789920" cy="371742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172200"/>
            <a:ext cx="109728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0" i="1">
                <a:solidFill>
                  <a:srgbClr val="666666"/>
                </a:solidFill>
                <a:latin typeface="Calibri"/>
              </a:rPr>
              <a:t>Sweet-spot: orta keşif × orta öğrenme oranı (ε₀=0.35, α=0.18) = seçilen varsayılanlar.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3000" b="1" i="0">
                <a:solidFill>
                  <a:srgbClr val="2C5F2D"/>
                </a:solidFill>
                <a:latin typeface="Cambria"/>
              </a:rPr>
              <a:t>Grafik 5 — Baseline Karşılaştırma</a:t>
            </a:r>
          </a:p>
        </p:txBody>
      </p:sp>
      <p:pic>
        <p:nvPicPr>
          <p:cNvPr id="3" name="Picture 2" descr="05_baseline_karsilast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8126" y="1417320"/>
            <a:ext cx="8415442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172200"/>
            <a:ext cx="109728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0" i="1">
                <a:solidFill>
                  <a:srgbClr val="666666"/>
                </a:solidFill>
                <a:latin typeface="Calibri"/>
              </a:rPr>
              <a:t>Eğitilmiş ajanlar (mavi) tüm naif/heuristik baseline'ları (turuncu) geçiyor; MDP optimum yeşil referans.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3000" b="1" i="0">
                <a:solidFill>
                  <a:srgbClr val="2C5F2D"/>
                </a:solidFill>
                <a:latin typeface="Cambria"/>
              </a:rPr>
              <a:t>Teslim-3 Savunma — Özet (kod satırlı)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1000"/>
              </a:spcAft>
            </a:pPr>
            <a:r>
              <a:rPr sz="1700" b="1" i="0">
                <a:solidFill>
                  <a:srgbClr val="2C5F2D"/>
                </a:solidFill>
                <a:latin typeface="Calibri"/>
              </a:rPr>
              <a:t>▸ Stokastik:</a:t>
            </a:r>
            <a:r>
              <a:rPr sz="1700" b="0" i="0">
                <a:solidFill>
                  <a:srgbClr val="212121"/>
                </a:solidFill>
                <a:latin typeface="Calibri"/>
              </a:rPr>
              <a:t> keep için empirik p(s′|s,a) — rl_experiment_utils.py:161; %74 durumda &gt;1 olası s′.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2C5F2D"/>
                </a:solidFill>
                <a:latin typeface="Calibri"/>
              </a:rPr>
              <a:t>▸ Off-policy:</a:t>
            </a:r>
            <a:r>
              <a:rPr sz="1700" b="0" i="0">
                <a:solidFill>
                  <a:srgbClr val="212121"/>
                </a:solidFill>
                <a:latin typeface="Calibri"/>
              </a:rPr>
              <a:t> Q-learning davranış ε-greedy (rl_core.py:309) vs hedef max Q (:321); DQN replay buffer (:474). Online ≠ offline.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2C5F2D"/>
                </a:solidFill>
                <a:latin typeface="Calibri"/>
              </a:rPr>
              <a:t>▸ Markov:</a:t>
            </a:r>
            <a:r>
              <a:rPr sz="1700" b="0" i="0">
                <a:solidFill>
                  <a:srgbClr val="212121"/>
                </a:solidFill>
                <a:latin typeface="Calibri"/>
              </a:rPr>
              <a:t> state_bucket → next varsayımı; trend/risk geçmişi özetler → yaklaşık Markov (bucketing kaybı).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2C5F2D"/>
                </a:solidFill>
                <a:latin typeface="Calibri"/>
              </a:rPr>
              <a:t>▸ POMDP:</a:t>
            </a:r>
            <a:r>
              <a:rPr sz="1700" b="0" i="0">
                <a:solidFill>
                  <a:srgbClr val="212121"/>
                </a:solidFill>
                <a:latin typeface="Calibri"/>
              </a:rPr>
              <a:t> cull_risk = denetimli tahmin (gerçek değil); feature engineering ile gözlemi Markov'a yaklaştırma.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Sonuç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3657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1400"/>
              </a:spcAft>
            </a:pPr>
            <a:r>
              <a:rPr sz="1900" b="0" i="0">
                <a:solidFill>
                  <a:srgbClr val="FFFFFF"/>
                </a:solidFill>
                <a:latin typeface="Calibri"/>
              </a:rPr>
              <a:t>▸ Empirik, stokastik, gecikmeli-ödüllü keep/cull ortamı → RL gerekçeli.</a:t>
            </a:r>
          </a:p>
          <a:p>
            <a:pPr>
              <a:spcAft>
                <a:spcPts val="1400"/>
              </a:spcAft>
            </a:pPr>
            <a:r>
              <a:rPr sz="1900" b="0" i="0">
                <a:solidFill>
                  <a:srgbClr val="FFFFFF"/>
                </a:solidFill>
                <a:latin typeface="Calibri"/>
              </a:rPr>
              <a:t>▸ Q-Learning ve DQN, ≥5 seed üzerinde tüm baseline'ları geçti; model-tabanlı optimuma istatistiksel olarak eşitlendi (fark anlamsız).</a:t>
            </a:r>
          </a:p>
          <a:p>
            <a:pPr>
              <a:spcAft>
                <a:spcPts val="1400"/>
              </a:spcAft>
            </a:pPr>
            <a:r>
              <a:rPr sz="1900" b="0" i="0">
                <a:solidFill>
                  <a:srgbClr val="FFFFFF"/>
                </a:solidFill>
                <a:latin typeface="Calibri"/>
              </a:rPr>
              <a:t>▸ Tüm sonuçlar tek komutla (run_all.sh) yeniden üretilebilir; ham loglardan doğrulanabilir.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48640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600" b="1" i="0">
                <a:solidFill>
                  <a:srgbClr val="97BC62"/>
                </a:solidFill>
                <a:latin typeface="Cambria"/>
              </a:rPr>
              <a:t>Teşekkürler.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